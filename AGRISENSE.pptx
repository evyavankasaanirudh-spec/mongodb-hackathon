
<file path=[Content_Types].xml><?xml version="1.0" encoding="utf-8"?>
<Types xmlns="http://schemas.openxmlformats.org/package/2006/content-types">
  <Default Extension="png" ContentType="image/png"/>
  <Default Extension="jfif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Spectral ExtraLight" panose="020B0604020202020204" charset="0"/>
      <p:regular r:id="rId13"/>
    </p:embeddedFont>
    <p:embeddedFont>
      <p:font typeface="Work Sans Medium" panose="020B0604020202020204" charset="0"/>
      <p:regular r:id="rId14"/>
    </p:embeddedFont>
    <p:embeddedFont>
      <p:font typeface="Spectral Light" panose="020B0604020202020204" charset="0"/>
      <p:regular r:id="rId15"/>
    </p:embeddedFont>
    <p:embeddedFont>
      <p:font typeface="Work Sans" panose="020B0604020202020204" charset="0"/>
      <p:regular r:id="rId16"/>
    </p:embeddedFont>
    <p:embeddedFont>
      <p:font typeface="Work Sans Bold" panose="020B0604020202020204" charset="0"/>
      <p:regular r:id="rId17"/>
    </p:embeddedFont>
    <p:embeddedFont>
      <p:font typeface="Work Sans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98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7" Type="http://schemas.openxmlformats.org/officeDocument/2006/relationships/image" Target="../media/image7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fif"/><Relationship Id="rId5" Type="http://schemas.openxmlformats.org/officeDocument/2006/relationships/image" Target="../media/image5.png"/><Relationship Id="rId4" Type="http://schemas.openxmlformats.org/officeDocument/2006/relationships/image" Target="../media/image4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0" spc="126" dirty="0" smtClean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</a:t>
            </a:r>
            <a:r>
              <a:rPr lang="en-US" sz="1600" b="1" kern="0" spc="126" dirty="0" smtClean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Logic Flow</a:t>
            </a:r>
            <a:r>
              <a:rPr lang="en-US" sz="1600" b="1" kern="0" spc="126" dirty="0" smtClean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]</a:t>
            </a:r>
            <a:endParaRPr lang="en-US" sz="1600" b="1" dirty="0"/>
          </a:p>
        </p:txBody>
      </p:sp>
      <p:sp>
        <p:nvSpPr>
          <p:cNvPr id="3" name="Text 1"/>
          <p:cNvSpPr/>
          <p:nvPr/>
        </p:nvSpPr>
        <p:spPr>
          <a:xfrm>
            <a:off x="212896" y="1140670"/>
            <a:ext cx="10769331" cy="9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000" kern="0" spc="-35" dirty="0" smtClean="0">
                <a:solidFill>
                  <a:srgbClr val="14161B"/>
                </a:solidFill>
                <a:latin typeface="Spectral ExtraLight" pitchFamily="34" charset="0"/>
                <a:ea typeface="Spectral ExtraLight" pitchFamily="34" charset="-122"/>
                <a:cs typeface="Spectral ExtraLight" pitchFamily="34" charset="-120"/>
              </a:rPr>
              <a:t>[Smart Agriculture Assistant, 4]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711182" y="2113161"/>
            <a:ext cx="1137891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US" sz="16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</a:t>
            </a:r>
            <a:r>
              <a:rPr lang="en-US" sz="1600" dirty="0"/>
              <a:t>An AI-powered agriculture assistant that combines soil, weather and historical crop data to help farmers make smarter decisions on </a:t>
            </a:r>
            <a:endParaRPr lang="en-US" sz="1600" dirty="0" smtClean="0"/>
          </a:p>
          <a:p>
            <a:pPr>
              <a:lnSpc>
                <a:spcPct val="121000"/>
              </a:lnSpc>
            </a:pPr>
            <a:r>
              <a:rPr lang="en-US" sz="1600" dirty="0" smtClean="0"/>
              <a:t>crop </a:t>
            </a:r>
            <a:r>
              <a:rPr lang="en-US" sz="1600" dirty="0"/>
              <a:t>selection, irrigation and fertilizer usage</a:t>
            </a:r>
            <a:r>
              <a:rPr lang="en-US" sz="1600" dirty="0" smtClean="0"/>
              <a:t>.]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4844" y="3380581"/>
            <a:ext cx="11645254" cy="2048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</a:t>
            </a:r>
            <a:r>
              <a:rPr lang="en-US" sz="1600" b="1" i="1" kern="0" spc="42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Evyavan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600" b="1" i="1" kern="0" spc="42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Anirudh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600" b="1" i="1" kern="0" spc="42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Kasa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] </a:t>
            </a:r>
            <a:r>
              <a:rPr lang="en-US" sz="1600" b="1" i="1" kern="0" spc="42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· 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Hackathon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600" b="1" i="1" kern="0" spc="42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/ 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2026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]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</a:rPr>
              <a:t>[C Sai </a:t>
            </a:r>
            <a:r>
              <a:rPr lang="en-US" sz="1600" b="1" i="1" kern="0" spc="42" dirty="0" err="1" smtClean="0">
                <a:solidFill>
                  <a:srgbClr val="14161B"/>
                </a:solidFill>
                <a:latin typeface="Work Sans" pitchFamily="34" charset="0"/>
              </a:rPr>
              <a:t>Sachin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</a:rPr>
              <a:t>] [Hackathon / 2026]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</a:rPr>
              <a:t>[T Ashish Reddy] [Hackathon / 2026]</a:t>
            </a:r>
          </a:p>
          <a:p>
            <a:pPr>
              <a:lnSpc>
                <a:spcPct val="125000"/>
              </a:lnSpc>
            </a:pPr>
            <a:r>
              <a:rPr lang="en-US" sz="1600" b="1" i="1" kern="0" spc="42" dirty="0">
                <a:solidFill>
                  <a:srgbClr val="14161B"/>
                </a:solidFill>
                <a:latin typeface="Work Sans" pitchFamily="34" charset="0"/>
              </a:rPr>
              <a:t>[</a:t>
            </a:r>
            <a:r>
              <a:rPr lang="en-US" sz="1600" b="1" i="1" kern="0" spc="42" dirty="0" err="1">
                <a:solidFill>
                  <a:srgbClr val="14161B"/>
                </a:solidFill>
                <a:latin typeface="Work Sans" pitchFamily="34" charset="0"/>
              </a:rPr>
              <a:t>Kotturi</a:t>
            </a:r>
            <a:r>
              <a:rPr lang="en-US" sz="1600" b="1" i="1" kern="0" spc="42" dirty="0">
                <a:solidFill>
                  <a:srgbClr val="14161B"/>
                </a:solidFill>
                <a:latin typeface="Work Sans" pitchFamily="34" charset="0"/>
              </a:rPr>
              <a:t> </a:t>
            </a:r>
            <a:r>
              <a:rPr lang="en-US" sz="1600" b="1" i="1" kern="0" spc="42" dirty="0" err="1" smtClean="0">
                <a:solidFill>
                  <a:srgbClr val="14161B"/>
                </a:solidFill>
                <a:latin typeface="Work Sans" pitchFamily="34" charset="0"/>
              </a:rPr>
              <a:t>Nikileshwar</a:t>
            </a:r>
            <a:r>
              <a:rPr lang="en-US" sz="1600" b="1" i="1" kern="0" spc="42" dirty="0" smtClean="0">
                <a:solidFill>
                  <a:srgbClr val="14161B"/>
                </a:solidFill>
                <a:latin typeface="Work Sans" pitchFamily="34" charset="0"/>
              </a:rPr>
              <a:t>] [Hackathon / 2026]</a:t>
            </a:r>
            <a:endParaRPr lang="en-US" sz="1600" b="1" i="1" dirty="0"/>
          </a:p>
        </p:txBody>
      </p:sp>
      <p:sp>
        <p:nvSpPr>
          <p:cNvPr id="6" name="Shape 4"/>
          <p:cNvSpPr/>
          <p:nvPr/>
        </p:nvSpPr>
        <p:spPr>
          <a:xfrm>
            <a:off x="711182" y="5916613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14161B">
              <a:alpha val="18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799" y="326430"/>
            <a:ext cx="1777956" cy="736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D8DECF-D087-B075-118E-86DCB9B0C454}"/>
              </a:ext>
            </a:extLst>
          </p:cNvPr>
          <p:cNvSpPr/>
          <p:nvPr/>
        </p:nvSpPr>
        <p:spPr>
          <a:xfrm>
            <a:off x="10982227" y="6523348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508" y="348351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[THE PROBLEM]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2284" y="776099"/>
            <a:ext cx="10769331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2800" dirty="0" smtClean="0"/>
              <a:t>Farmers </a:t>
            </a:r>
            <a:r>
              <a:rPr lang="en-US" sz="2800" dirty="0"/>
              <a:t>often make critical decisions using fragmented information </a:t>
            </a:r>
            <a:r>
              <a:rPr lang="en-US" sz="2800" dirty="0" smtClean="0"/>
              <a:t>about</a:t>
            </a:r>
          </a:p>
          <a:p>
            <a:pPr>
              <a:lnSpc>
                <a:spcPct val="93000"/>
              </a:lnSpc>
            </a:pPr>
            <a:r>
              <a:rPr lang="en-US" sz="2800" dirty="0" smtClean="0"/>
              <a:t> </a:t>
            </a:r>
            <a:r>
              <a:rPr lang="en-US" sz="2800" dirty="0"/>
              <a:t>soil, weather, crops and past yields</a:t>
            </a:r>
            <a:r>
              <a:rPr lang="en-US" sz="2800" dirty="0" smtClean="0"/>
              <a:t>.</a:t>
            </a:r>
          </a:p>
          <a:p>
            <a:pPr>
              <a:lnSpc>
                <a:spcPct val="93000"/>
              </a:lnSpc>
            </a:pP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9303" y="1623407"/>
            <a:ext cx="1137891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Changing environmental conditions make it difficult to determine:</a:t>
            </a:r>
          </a:p>
          <a:p>
            <a:r>
              <a:rPr lang="en-US" sz="1600" b="1" dirty="0"/>
              <a:t>	</a:t>
            </a:r>
            <a:r>
              <a:rPr lang="en-US" sz="1600" b="1" dirty="0" smtClean="0"/>
              <a:t>Which </a:t>
            </a:r>
            <a:r>
              <a:rPr lang="en-US" sz="1600" b="1" dirty="0"/>
              <a:t>crop is suitable?</a:t>
            </a:r>
            <a:r>
              <a:rPr lang="en-US" sz="1600" dirty="0"/>
              <a:t> </a:t>
            </a:r>
          </a:p>
          <a:p>
            <a:r>
              <a:rPr lang="en-US" sz="1600" b="1" dirty="0" smtClean="0"/>
              <a:t>	When </a:t>
            </a:r>
            <a:r>
              <a:rPr lang="en-US" sz="1600" b="1" dirty="0"/>
              <a:t>irrigation is required?</a:t>
            </a:r>
            <a:r>
              <a:rPr lang="en-US" sz="1600" dirty="0"/>
              <a:t> </a:t>
            </a:r>
          </a:p>
          <a:p>
            <a:r>
              <a:rPr lang="en-US" sz="1600" b="1" dirty="0" smtClean="0"/>
              <a:t>	How </a:t>
            </a:r>
            <a:r>
              <a:rPr lang="en-US" sz="1600" b="1" dirty="0"/>
              <a:t>much fertilizer is appropriate?</a:t>
            </a:r>
            <a:r>
              <a:rPr lang="en-US" sz="1600" dirty="0"/>
              <a:t> </a:t>
            </a:r>
          </a:p>
          <a:p>
            <a:r>
              <a:rPr lang="en-US" sz="1600" b="1" dirty="0" smtClean="0"/>
              <a:t>	How </a:t>
            </a:r>
            <a:r>
              <a:rPr lang="en-US" sz="1600" b="1" dirty="0"/>
              <a:t>historical performance can guide current decisions?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9303" y="3320481"/>
            <a:ext cx="1076933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IN" sz="1600" b="1" dirty="0" smtClean="0"/>
              <a:t>Fragmented </a:t>
            </a:r>
            <a:r>
              <a:rPr lang="en-IN" sz="1600" b="1" dirty="0"/>
              <a:t>agricultural </a:t>
            </a:r>
            <a:r>
              <a:rPr lang="en-IN" sz="1600" b="1" dirty="0" smtClean="0"/>
              <a:t>data</a:t>
            </a:r>
            <a:r>
              <a:rPr lang="en-US" sz="16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6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</a:t>
            </a:r>
            <a:r>
              <a:rPr lang="en-US" sz="1600" dirty="0" smtClean="0"/>
              <a:t>Soil</a:t>
            </a:r>
            <a:r>
              <a:rPr lang="en-US" sz="1600" dirty="0"/>
              <a:t>, weather and historical crop information are often available separately, making </a:t>
            </a:r>
            <a:r>
              <a:rPr lang="en-US" sz="1600" dirty="0" smtClean="0"/>
              <a:t>combined</a:t>
            </a:r>
          </a:p>
          <a:p>
            <a:pPr>
              <a:lnSpc>
                <a:spcPct val="121000"/>
              </a:lnSpc>
            </a:pPr>
            <a:r>
              <a:rPr lang="en-US" sz="1600" dirty="0"/>
              <a:t> </a:t>
            </a:r>
            <a:r>
              <a:rPr lang="en-US" sz="1600" dirty="0" smtClean="0"/>
              <a:t>                                                                </a:t>
            </a:r>
            <a:r>
              <a:rPr lang="en-US" sz="1600" dirty="0"/>
              <a:t>analysis difficult.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2284" y="4261942"/>
            <a:ext cx="1076933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IN" sz="1600" b="1" dirty="0"/>
              <a:t>Changing environmental conditions</a:t>
            </a:r>
            <a:r>
              <a:rPr lang="en-US" sz="16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</a:t>
            </a:r>
            <a:r>
              <a:rPr lang="en-US" sz="1600" dirty="0"/>
              <a:t>Rainfall, temperature and soil moisture can change rapidly, affecting irrigation and crop </a:t>
            </a:r>
            <a:endParaRPr lang="en-US" sz="1600" dirty="0" smtClean="0"/>
          </a:p>
          <a:p>
            <a:pPr>
              <a:lnSpc>
                <a:spcPct val="121000"/>
              </a:lnSpc>
            </a:pPr>
            <a:r>
              <a:rPr lang="en-US" sz="1600" dirty="0"/>
              <a:t> </a:t>
            </a:r>
            <a:r>
              <a:rPr lang="en-US" sz="1600" dirty="0" smtClean="0"/>
              <a:t>                                                                      suitability</a:t>
            </a:r>
            <a:r>
              <a:rPr lang="en-US" sz="1600" dirty="0"/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2283" y="5158392"/>
            <a:ext cx="1076933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IN" sz="1600" b="1" dirty="0" smtClean="0"/>
              <a:t>Limited </a:t>
            </a:r>
            <a:r>
              <a:rPr lang="en-IN" sz="1600" b="1" dirty="0"/>
              <a:t>decision support</a:t>
            </a:r>
            <a:r>
              <a:rPr lang="en-US" sz="16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</a:t>
            </a:r>
            <a:r>
              <a:rPr lang="en-US" sz="1600" dirty="0" smtClean="0"/>
              <a:t> </a:t>
            </a:r>
            <a:r>
              <a:rPr lang="en-US" sz="1600" dirty="0"/>
              <a:t>Farmers need actionable recommendations rather than raw agricultural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302" y="4078392"/>
            <a:ext cx="10769331" cy="1270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9301" y="4972600"/>
            <a:ext cx="10769331" cy="1270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5417" y="5725259"/>
            <a:ext cx="12191695" cy="635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15725" y="6517977"/>
            <a:ext cx="775970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kern="0" spc="108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8692D8-6431-B2B0-9E31-24ABE821E5BB}"/>
              </a:ext>
            </a:extLst>
          </p:cNvPr>
          <p:cNvSpPr/>
          <p:nvPr/>
        </p:nvSpPr>
        <p:spPr>
          <a:xfrm>
            <a:off x="10982227" y="6523348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39303" y="5972432"/>
            <a:ext cx="1044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challenge is not lack of data — it is turning agricultural data into timely, understandable decisions.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004" y="279648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[YOUR SOLUTION]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8760" y="651866"/>
            <a:ext cx="10769331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3000"/>
              </a:lnSpc>
            </a:pPr>
            <a:r>
              <a:rPr lang="en-US" sz="2800" kern="0" spc="-35" dirty="0" smtClean="0">
                <a:solidFill>
                  <a:srgbClr val="14161B"/>
                </a:solidFill>
                <a:latin typeface="Spectral ExtraLight" pitchFamily="34" charset="0"/>
                <a:ea typeface="Spectral ExtraLight" pitchFamily="34" charset="-122"/>
                <a:cs typeface="Spectral ExtraLight" pitchFamily="34" charset="-120"/>
              </a:rPr>
              <a:t>Smart </a:t>
            </a:r>
            <a:r>
              <a:rPr lang="en-US" sz="2800" kern="0" spc="-35" dirty="0">
                <a:solidFill>
                  <a:srgbClr val="14161B"/>
                </a:solidFill>
                <a:latin typeface="Spectral ExtraLight" pitchFamily="34" charset="0"/>
                <a:ea typeface="Spectral ExtraLight" pitchFamily="34" charset="-122"/>
                <a:cs typeface="Spectral ExtraLight" pitchFamily="34" charset="-120"/>
              </a:rPr>
              <a:t>Agriculture </a:t>
            </a:r>
            <a:r>
              <a:rPr lang="en-US" sz="2800" kern="0" spc="-35" dirty="0" smtClean="0">
                <a:solidFill>
                  <a:srgbClr val="14161B"/>
                </a:solidFill>
                <a:latin typeface="Spectral ExtraLight" pitchFamily="34" charset="0"/>
                <a:ea typeface="Spectral ExtraLight" pitchFamily="34" charset="-122"/>
                <a:cs typeface="Spectral ExtraLight" pitchFamily="34" charset="-120"/>
              </a:rPr>
              <a:t>Assistant</a:t>
            </a:r>
            <a:r>
              <a:rPr lang="en-US" sz="2700" dirty="0" smtClean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 </a:t>
            </a:r>
            <a:r>
              <a:rPr lang="en-US" sz="2700" dirty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helps </a:t>
            </a:r>
            <a:r>
              <a:rPr lang="en-US" sz="2700" dirty="0" smtClean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farmers</a:t>
            </a:r>
            <a:r>
              <a:rPr lang="en-US" sz="2700" dirty="0" smtClean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 </a:t>
            </a:r>
            <a:r>
              <a:rPr lang="en-US" sz="2800" dirty="0"/>
              <a:t>turn agricultural data into </a:t>
            </a:r>
            <a:endParaRPr lang="en-US" sz="2800" dirty="0" smtClean="0"/>
          </a:p>
          <a:p>
            <a:pPr>
              <a:lnSpc>
                <a:spcPct val="93000"/>
              </a:lnSpc>
            </a:pPr>
            <a:r>
              <a:rPr lang="en-US" sz="2800" dirty="0" smtClean="0"/>
              <a:t>actionable </a:t>
            </a:r>
            <a:r>
              <a:rPr lang="en-US" sz="2800" dirty="0"/>
              <a:t>farm recommendations.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182" y="1599307"/>
            <a:ext cx="8100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1182" y="1866007"/>
            <a:ext cx="3374544" cy="1905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1983482"/>
            <a:ext cx="33745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Farm &amp; Environmental 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2488307"/>
            <a:ext cx="35897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Users provide:</a:t>
            </a:r>
          </a:p>
          <a:p>
            <a:r>
              <a:rPr lang="en-IN" sz="1400" dirty="0"/>
              <a:t>Nitrogen (N) </a:t>
            </a:r>
          </a:p>
          <a:p>
            <a:r>
              <a:rPr lang="en-IN" sz="1400" dirty="0"/>
              <a:t>Phosphorus (P) </a:t>
            </a:r>
          </a:p>
          <a:p>
            <a:r>
              <a:rPr lang="en-IN" sz="1400" dirty="0"/>
              <a:t>Potassium (K) </a:t>
            </a:r>
          </a:p>
          <a:p>
            <a:r>
              <a:rPr lang="en-IN" sz="1400" dirty="0"/>
              <a:t>Soil pH </a:t>
            </a:r>
          </a:p>
          <a:p>
            <a:r>
              <a:rPr lang="en-IN" sz="1400" dirty="0"/>
              <a:t>Rainfall </a:t>
            </a:r>
          </a:p>
          <a:p>
            <a:r>
              <a:rPr lang="en-IN" sz="1400" dirty="0"/>
              <a:t>Soil moisture </a:t>
            </a:r>
          </a:p>
          <a:p>
            <a:r>
              <a:rPr lang="en-IN" sz="1400" dirty="0"/>
              <a:t>Temperature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16126" y="1599307"/>
            <a:ext cx="84333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16126" y="1866007"/>
            <a:ext cx="3159344" cy="1905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0" name="Text 8"/>
          <p:cNvSpPr/>
          <p:nvPr/>
        </p:nvSpPr>
        <p:spPr>
          <a:xfrm>
            <a:off x="4516126" y="1983482"/>
            <a:ext cx="31593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AI + Data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16126" y="2496545"/>
            <a:ext cx="3159344" cy="206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1400" dirty="0" err="1"/>
              <a:t>AgriSense</a:t>
            </a:r>
            <a:r>
              <a:rPr lang="en-US" sz="1400" dirty="0"/>
              <a:t> combines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r>
              <a:rPr lang="en-US" sz="1400" dirty="0" smtClean="0"/>
              <a:t>    MongoDB </a:t>
            </a:r>
            <a:r>
              <a:rPr lang="en-US" sz="1400" dirty="0"/>
              <a:t>agricultural data </a:t>
            </a:r>
          </a:p>
          <a:p>
            <a:r>
              <a:rPr lang="en-US" sz="1400" dirty="0" smtClean="0"/>
              <a:t>   PostgreSQL </a:t>
            </a:r>
            <a:r>
              <a:rPr lang="en-US" sz="1400" dirty="0"/>
              <a:t>farm information </a:t>
            </a:r>
            <a:r>
              <a:rPr lang="en-US" sz="1400" dirty="0" smtClean="0"/>
              <a:t> </a:t>
            </a:r>
            <a:endParaRPr lang="en-US" sz="1400" dirty="0"/>
          </a:p>
          <a:p>
            <a:r>
              <a:rPr lang="en-US" sz="1400" dirty="0" smtClean="0"/>
              <a:t>   Historical </a:t>
            </a:r>
            <a:r>
              <a:rPr lang="en-US" sz="1400" dirty="0"/>
              <a:t>crop performance </a:t>
            </a:r>
          </a:p>
          <a:p>
            <a:r>
              <a:rPr lang="en-US" sz="1400" dirty="0" smtClean="0"/>
              <a:t>   Weather </a:t>
            </a:r>
            <a:r>
              <a:rPr lang="en-US" sz="1400" dirty="0"/>
              <a:t>and soil information </a:t>
            </a:r>
          </a:p>
          <a:p>
            <a:r>
              <a:rPr lang="en-US" sz="1400" dirty="0" smtClean="0"/>
              <a:t>   RAG-based </a:t>
            </a:r>
            <a:r>
              <a:rPr lang="en-US" sz="1400" dirty="0"/>
              <a:t>agricultural knowledge 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   It </a:t>
            </a:r>
            <a:r>
              <a:rPr lang="en-US" sz="1400" dirty="0"/>
              <a:t>then analyzes the conditions to </a:t>
            </a:r>
            <a:r>
              <a:rPr lang="en-US" sz="1400" dirty="0" smtClean="0"/>
              <a:t>         generate </a:t>
            </a:r>
            <a:r>
              <a:rPr lang="en-US" sz="1400" dirty="0"/>
              <a:t>recommendations.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05870" y="1599307"/>
            <a:ext cx="840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5870" y="1866007"/>
            <a:ext cx="3374544" cy="1905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4" name="Text 12"/>
          <p:cNvSpPr/>
          <p:nvPr/>
        </p:nvSpPr>
        <p:spPr>
          <a:xfrm>
            <a:off x="8105870" y="1983482"/>
            <a:ext cx="33745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Actionable Farm Decisions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05870" y="2488307"/>
            <a:ext cx="33745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The system provides</a:t>
            </a:r>
            <a:r>
              <a:rPr lang="en-IN" sz="1400" dirty="0" smtClean="0"/>
              <a:t>:</a:t>
            </a:r>
          </a:p>
          <a:p>
            <a:endParaRPr lang="en-IN" sz="1400" dirty="0"/>
          </a:p>
          <a:p>
            <a:r>
              <a:rPr lang="en-IN" sz="1400" b="1" dirty="0" smtClean="0"/>
              <a:t>Recommended </a:t>
            </a:r>
            <a:r>
              <a:rPr lang="en-IN" sz="1400" b="1" dirty="0"/>
              <a:t>Crop</a:t>
            </a:r>
            <a:endParaRPr lang="en-IN" sz="1400" dirty="0"/>
          </a:p>
          <a:p>
            <a:r>
              <a:rPr lang="en-IN" sz="1400" b="1" dirty="0" smtClean="0"/>
              <a:t>Irrigation </a:t>
            </a:r>
            <a:r>
              <a:rPr lang="en-IN" sz="1400" b="1" dirty="0"/>
              <a:t>Recommendation</a:t>
            </a:r>
            <a:endParaRPr lang="en-IN" sz="1400" dirty="0"/>
          </a:p>
          <a:p>
            <a:r>
              <a:rPr lang="en-IN" sz="1400" b="1" dirty="0" smtClean="0"/>
              <a:t>Fertilizer </a:t>
            </a:r>
            <a:r>
              <a:rPr lang="en-IN" sz="1400" b="1" dirty="0"/>
              <a:t>Recommendation</a:t>
            </a:r>
            <a:endParaRPr lang="en-IN" sz="1400" dirty="0"/>
          </a:p>
          <a:p>
            <a:r>
              <a:rPr lang="en-IN" sz="1400" b="1" dirty="0" smtClean="0"/>
              <a:t>Historical </a:t>
            </a:r>
            <a:r>
              <a:rPr lang="en-IN" sz="1400" b="1" dirty="0"/>
              <a:t>Crop </a:t>
            </a:r>
            <a:r>
              <a:rPr lang="en-IN" sz="1400" b="1" dirty="0" smtClean="0"/>
              <a:t>Insights</a:t>
            </a:r>
            <a:endParaRPr lang="en-IN" sz="1400" dirty="0" smtClean="0"/>
          </a:p>
          <a:p>
            <a:r>
              <a:rPr lang="en-IN" sz="1400" b="1" dirty="0" smtClean="0"/>
              <a:t>AI </a:t>
            </a:r>
            <a:r>
              <a:rPr lang="en-IN" sz="1400" b="1" dirty="0"/>
              <a:t>Agriculture </a:t>
            </a:r>
            <a:r>
              <a:rPr lang="en-IN" sz="1400" b="1" dirty="0" err="1"/>
              <a:t>Chatbot</a:t>
            </a:r>
            <a:endParaRPr lang="en-IN" sz="1400" dirty="0"/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195" y="4727425"/>
            <a:ext cx="1104872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400" dirty="0"/>
              <a:t>“A farmer can enter current farm conditions and receive understandable </a:t>
            </a:r>
            <a:r>
              <a:rPr lang="en-US" sz="2400" dirty="0" smtClean="0"/>
              <a:t>recommendations</a:t>
            </a:r>
          </a:p>
          <a:p>
            <a:pPr>
              <a:lnSpc>
                <a:spcPct val="110000"/>
              </a:lnSpc>
            </a:pPr>
            <a:r>
              <a:rPr lang="en-US" sz="2400" dirty="0" smtClean="0"/>
              <a:t> </a:t>
            </a:r>
            <a:r>
              <a:rPr lang="en-US" sz="2400" dirty="0"/>
              <a:t>for the next farming decision.”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1182" y="6054725"/>
            <a:ext cx="1137891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50" b="1" kern="0" spc="42" dirty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[Moonshot idea]</a:t>
            </a:r>
            <a:r>
              <a:rPr lang="en-US" sz="1050" kern="0" spc="42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— </a:t>
            </a:r>
            <a:r>
              <a:rPr lang="en-US" sz="1050" dirty="0"/>
              <a:t>A continuously learning agricultural copilot that combines real-time farm conditions, historical patterns and agricultural knowledge to support every major farming decision.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4576" y="1472307"/>
            <a:ext cx="12700" cy="1723231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84320" y="1472307"/>
            <a:ext cx="12700" cy="1723231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248400"/>
            <a:ext cx="12191695" cy="635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17709" y="6517977"/>
            <a:ext cx="77398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kern="0" spc="108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FF4BBD-4BB7-C5EA-E522-9DA2217026AC}"/>
              </a:ext>
            </a:extLst>
          </p:cNvPr>
          <p:cNvSpPr/>
          <p:nvPr/>
        </p:nvSpPr>
        <p:spPr>
          <a:xfrm>
            <a:off x="10982227" y="6523348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53846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TECHNOLOGY &amp; AI FEATURES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843855"/>
            <a:ext cx="497827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700" dirty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182" y="1472307"/>
            <a:ext cx="4978275" cy="4549775"/>
          </a:xfrm>
          <a:prstGeom prst="rect">
            <a:avLst/>
          </a:prstGeom>
          <a:noFill/>
          <a:ln/>
        </p:spPr>
        <p:txBody>
          <a:bodyPr wrap="square" lIns="0" tIns="114297" rIns="0" bIns="126997" rtlCol="0" anchor="t">
            <a:normAutofit fontScale="92500" lnSpcReduction="10000"/>
          </a:bodyPr>
          <a:lstStyle/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Frontend</a:t>
            </a:r>
            <a:r>
              <a:rPr lang="en-US" sz="1500" b="1" dirty="0" smtClean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: </a:t>
            </a:r>
            <a:r>
              <a:rPr lang="en-US" sz="1600" dirty="0"/>
              <a:t>Responsive web dashboard for farm analysis, historical insights and AI chat</a:t>
            </a:r>
            <a:r>
              <a:rPr lang="en-US" sz="1600" dirty="0" smtClean="0"/>
              <a:t>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Backend: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Python,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FastAPI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, Rest APIs</a:t>
            </a:r>
          </a:p>
          <a:p>
            <a:pPr>
              <a:lnSpc>
                <a:spcPct val="121000"/>
              </a:lnSpc>
              <a:buSzPct val="100000"/>
            </a:pPr>
            <a:r>
              <a:rPr lang="en-US" sz="1500" dirty="0">
                <a:solidFill>
                  <a:srgbClr val="14161B"/>
                </a:solidFill>
                <a:latin typeface="Work Sans" pitchFamily="34" charset="0"/>
              </a:rPr>
              <a:t> 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</a:rPr>
              <a:t>             </a:t>
            </a:r>
            <a:r>
              <a:rPr lang="en-US" sz="1600" dirty="0"/>
              <a:t>Handles recommendations, historical insights </a:t>
            </a:r>
            <a:r>
              <a:rPr lang="en-US" sz="1600" dirty="0" smtClean="0"/>
              <a:t>            and </a:t>
            </a:r>
            <a:r>
              <a:rPr lang="en-US" sz="1600" dirty="0" err="1"/>
              <a:t>chatbot</a:t>
            </a:r>
            <a:r>
              <a:rPr lang="en-US" sz="1600" dirty="0"/>
              <a:t> requests</a:t>
            </a:r>
            <a:r>
              <a:rPr lang="en-US" sz="1600" dirty="0" smtClean="0"/>
              <a:t>.</a:t>
            </a:r>
            <a:endParaRPr lang="en-US" sz="1500" dirty="0" smtClean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Database:</a:t>
            </a: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 Bold" pitchFamily="34" charset="-122"/>
                <a:cs typeface="Work Sans Bold" pitchFamily="34" charset="-120"/>
              </a:rPr>
              <a:t> 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 Bold" pitchFamily="34" charset="-122"/>
                <a:cs typeface="Work Sans Bold" pitchFamily="34" charset="-120"/>
              </a:rPr>
              <a:t>MongoDB, PostgreSQL,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 Bold" pitchFamily="34" charset="-122"/>
                <a:cs typeface="Work Sans Bold" pitchFamily="34" charset="-120"/>
              </a:rPr>
              <a:t>PyMongo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 Bold" pitchFamily="34" charset="-122"/>
                <a:cs typeface="Work Sans Bold" pitchFamily="34" charset="-120"/>
              </a:rPr>
              <a:t>, MongoDB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 Bold" pitchFamily="34" charset="-122"/>
                <a:cs typeface="Work Sans Bold" pitchFamily="34" charset="-120"/>
              </a:rPr>
              <a:t>Agression</a:t>
            </a:r>
            <a:endParaRPr lang="en-US" sz="1500" dirty="0" smtClean="0">
              <a:solidFill>
                <a:srgbClr val="14161B"/>
              </a:solidFill>
              <a:latin typeface="Work Sans" pitchFamily="34" charset="0"/>
              <a:ea typeface="Work Sans Bold" pitchFamily="34" charset="-122"/>
              <a:cs typeface="Work Sans Bold" pitchFamily="34" charset="-120"/>
            </a:endParaRPr>
          </a:p>
          <a:p>
            <a:pPr>
              <a:lnSpc>
                <a:spcPct val="121000"/>
              </a:lnSpc>
              <a:buSzPct val="100000"/>
            </a:pPr>
            <a:r>
              <a:rPr lang="en-IN" sz="1600" dirty="0"/>
              <a:t>MongoDB → dynamic agricultural/environmental </a:t>
            </a:r>
            <a:r>
              <a:rPr lang="en-IN" sz="1600" dirty="0" smtClean="0"/>
              <a:t>data</a:t>
            </a:r>
          </a:p>
          <a:p>
            <a:pPr>
              <a:lnSpc>
                <a:spcPct val="121000"/>
              </a:lnSpc>
              <a:buSzPct val="100000"/>
            </a:pPr>
            <a:r>
              <a:rPr lang="en-IN" sz="1600" dirty="0"/>
              <a:t>PostgreSQL → structured farm/master </a:t>
            </a:r>
            <a:r>
              <a:rPr lang="en-IN" sz="1600" dirty="0" smtClean="0"/>
              <a:t>data</a:t>
            </a:r>
          </a:p>
          <a:p>
            <a:pPr>
              <a:lnSpc>
                <a:spcPct val="121000"/>
              </a:lnSpc>
              <a:buSzPct val="100000"/>
            </a:pPr>
            <a:r>
              <a:rPr lang="en-IN" sz="1600" dirty="0"/>
              <a:t>Aggregation → crop performance </a:t>
            </a:r>
            <a:r>
              <a:rPr lang="en-IN" sz="1600" dirty="0" err="1"/>
              <a:t>analysi</a:t>
            </a:r>
            <a:endParaRPr lang="en-US" sz="1500" dirty="0" smtClean="0"/>
          </a:p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AI/ML: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Rag-based  Knowledge Retrieval, recommendation engine, AI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ChatBot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. </a:t>
            </a:r>
            <a:r>
              <a:rPr lang="en-US" sz="1600" dirty="0"/>
              <a:t>Agricultural knowledge is retrieved from MongoDB to generate relevant responses.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Infrastructure:</a:t>
            </a: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Local Development, VS Code, Python Virtual Environment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Other tools:</a:t>
            </a: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Mongosh</a:t>
            </a:r>
            <a:r>
              <a:rPr lang="en-US" sz="1500" dirty="0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, MongoDB Atlas Charts, </a:t>
            </a:r>
            <a:r>
              <a:rPr lang="en-US" sz="1500" dirty="0" err="1" smtClean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Github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02237" y="558800"/>
            <a:ext cx="497827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700" dirty="0">
                <a:solidFill>
                  <a:srgbClr val="14161B"/>
                </a:solidFill>
                <a:latin typeface="Spectral Light" pitchFamily="34" charset="0"/>
                <a:ea typeface="Spectral Light" pitchFamily="34" charset="-122"/>
                <a:cs typeface="Spectral Light" pitchFamily="34" charset="-120"/>
              </a:rPr>
              <a:t>Key Features / USPs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02237" y="1187252"/>
            <a:ext cx="4978275" cy="4290910"/>
          </a:xfrm>
          <a:prstGeom prst="rect">
            <a:avLst/>
          </a:prstGeom>
          <a:noFill/>
          <a:ln/>
        </p:spPr>
        <p:txBody>
          <a:bodyPr wrap="square" lIns="0" tIns="114297" rIns="0" bIns="126997" rtlCol="0" anchor="t">
            <a:normAutofit fontScale="92500" lnSpcReduction="10000"/>
          </a:bodyPr>
          <a:lstStyle/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IN" sz="1600" dirty="0"/>
              <a:t>AI Agriculture </a:t>
            </a:r>
            <a:r>
              <a:rPr lang="en-IN" sz="1600" dirty="0" smtClean="0"/>
              <a:t>Assistant</a:t>
            </a:r>
          </a:p>
          <a:p>
            <a:pPr>
              <a:lnSpc>
                <a:spcPct val="121000"/>
              </a:lnSpc>
              <a:buSzPct val="100000"/>
            </a:pPr>
            <a:r>
              <a:rPr lang="en-IN" sz="1600" dirty="0"/>
              <a:t> </a:t>
            </a:r>
            <a:r>
              <a:rPr lang="en-IN" sz="1600" dirty="0" smtClean="0"/>
              <a:t>      </a:t>
            </a:r>
            <a:r>
              <a:rPr lang="en-US" sz="1600" dirty="0"/>
              <a:t>Provides recommendations for </a:t>
            </a:r>
            <a:r>
              <a:rPr lang="en-US" sz="1600" b="1" dirty="0"/>
              <a:t>crop selection, irrigation </a:t>
            </a:r>
            <a:r>
              <a:rPr lang="en-US" sz="1600" b="1" dirty="0" smtClean="0"/>
              <a:t>   and </a:t>
            </a:r>
            <a:r>
              <a:rPr lang="en-US" sz="1600" b="1" dirty="0"/>
              <a:t>fertilizer usage</a:t>
            </a:r>
            <a:r>
              <a:rPr lang="en-US" sz="1600" dirty="0"/>
              <a:t> based on farm conditions</a:t>
            </a:r>
            <a:r>
              <a:rPr lang="en-US" sz="1600" dirty="0" smtClean="0"/>
              <a:t>.</a:t>
            </a:r>
          </a:p>
          <a:p>
            <a:pPr>
              <a:lnSpc>
                <a:spcPct val="121000"/>
              </a:lnSpc>
              <a:buSzPct val="100000"/>
            </a:pPr>
            <a:endParaRPr lang="en-US" sz="1500" dirty="0" smtClean="0"/>
          </a:p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IN" sz="1600" dirty="0"/>
              <a:t>RAG Knowledge </a:t>
            </a:r>
            <a:r>
              <a:rPr lang="en-IN" sz="1600" dirty="0" smtClean="0"/>
              <a:t>Retrieval</a:t>
            </a:r>
          </a:p>
          <a:p>
            <a:pPr>
              <a:lnSpc>
                <a:spcPct val="121000"/>
              </a:lnSpc>
              <a:buSzPct val="100000"/>
            </a:pPr>
            <a:r>
              <a:rPr lang="en-US" sz="1600" dirty="0"/>
              <a:t>Retrieves relevant agricultural knowledge from MongoDB before answering user questions</a:t>
            </a:r>
            <a:r>
              <a:rPr lang="en-US" sz="1600" dirty="0" smtClean="0"/>
              <a:t>.</a:t>
            </a:r>
          </a:p>
          <a:p>
            <a:pPr>
              <a:lnSpc>
                <a:spcPct val="121000"/>
              </a:lnSpc>
              <a:buSzPct val="100000"/>
            </a:pPr>
            <a:endParaRPr lang="en-US" sz="1500" dirty="0" smtClean="0"/>
          </a:p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IN" sz="1600" dirty="0"/>
              <a:t>Data-Driven </a:t>
            </a:r>
            <a:r>
              <a:rPr lang="en-IN" sz="1600" dirty="0" smtClean="0"/>
              <a:t>Insights</a:t>
            </a:r>
          </a:p>
          <a:p>
            <a:pPr>
              <a:lnSpc>
                <a:spcPct val="121000"/>
              </a:lnSpc>
              <a:buSzPct val="100000"/>
            </a:pPr>
            <a:r>
              <a:rPr lang="en-US" sz="1600" dirty="0"/>
              <a:t>MongoDB aggregation analyzes </a:t>
            </a:r>
            <a:r>
              <a:rPr lang="en-US" sz="1600" b="1" dirty="0"/>
              <a:t>historical yield, rainfall, fertilizer usage and production</a:t>
            </a:r>
            <a:r>
              <a:rPr lang="en-US" sz="1600" dirty="0" smtClean="0"/>
              <a:t>.</a:t>
            </a:r>
          </a:p>
          <a:p>
            <a:pPr>
              <a:lnSpc>
                <a:spcPct val="121000"/>
              </a:lnSpc>
              <a:buSzPct val="100000"/>
            </a:pPr>
            <a:endParaRPr lang="en-US" sz="1500" dirty="0"/>
          </a:p>
          <a:p>
            <a:pPr marL="304800" indent="-304800">
              <a:lnSpc>
                <a:spcPct val="121000"/>
              </a:lnSpc>
              <a:buSzPct val="100000"/>
              <a:buChar char="•"/>
            </a:pPr>
            <a:r>
              <a:rPr lang="en-IN" sz="1600" dirty="0"/>
              <a:t>Polyglot Data </a:t>
            </a:r>
            <a:r>
              <a:rPr lang="en-IN" sz="1600" dirty="0" smtClean="0"/>
              <a:t>Architecture</a:t>
            </a:r>
          </a:p>
          <a:p>
            <a:pPr>
              <a:lnSpc>
                <a:spcPct val="121000"/>
              </a:lnSpc>
              <a:buSzPct val="100000"/>
            </a:pPr>
            <a:r>
              <a:rPr lang="en-IN" sz="1600" dirty="0"/>
              <a:t> </a:t>
            </a:r>
            <a:r>
              <a:rPr lang="en-IN" sz="1600" dirty="0" smtClean="0"/>
              <a:t>       </a:t>
            </a:r>
            <a:r>
              <a:rPr lang="en-US" sz="1600" b="1" dirty="0"/>
              <a:t>PostgreSQL + MongoDB</a:t>
            </a:r>
            <a:r>
              <a:rPr lang="en-US" sz="1600" dirty="0"/>
              <a:t> allows structured farm information and flexible agricultural data to work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248400"/>
            <a:ext cx="12191695" cy="635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11756" y="6517977"/>
            <a:ext cx="77993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kern="0" spc="108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2E942-A872-34FF-A720-A7803F74B68E}"/>
              </a:ext>
            </a:extLst>
          </p:cNvPr>
          <p:cNvSpPr/>
          <p:nvPr/>
        </p:nvSpPr>
        <p:spPr>
          <a:xfrm>
            <a:off x="10982227" y="6523348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[HOW IT WORKS]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1182" y="1637407"/>
            <a:ext cx="5308467" cy="1537196"/>
          </a:xfrm>
          <a:prstGeom prst="rect">
            <a:avLst/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176" y="1891407"/>
            <a:ext cx="50544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[PART 1]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5176" y="2176463"/>
            <a:ext cx="48004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 smtClean="0"/>
              <a:t>Enter </a:t>
            </a:r>
            <a:r>
              <a:rPr lang="en-IN" sz="2000" dirty="0"/>
              <a:t>Farm </a:t>
            </a:r>
            <a:r>
              <a:rPr lang="en-IN" sz="2000" dirty="0" smtClean="0"/>
              <a:t>Conditions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8" y="2599085"/>
            <a:ext cx="50544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US" sz="1400" dirty="0"/>
              <a:t>The farmer enters soil and environmental parameters </a:t>
            </a:r>
            <a:r>
              <a:rPr lang="en-US" sz="1400" dirty="0" smtClean="0"/>
              <a:t>through</a:t>
            </a:r>
          </a:p>
          <a:p>
            <a:pPr>
              <a:lnSpc>
                <a:spcPct val="121000"/>
              </a:lnSpc>
            </a:pPr>
            <a:r>
              <a:rPr lang="en-US" sz="1400" dirty="0" smtClean="0"/>
              <a:t> </a:t>
            </a:r>
            <a:r>
              <a:rPr lang="en-US" sz="1400" dirty="0"/>
              <a:t>the </a:t>
            </a:r>
            <a:r>
              <a:rPr lang="en-US" sz="1400" dirty="0" err="1"/>
              <a:t>AgriSense</a:t>
            </a:r>
            <a:r>
              <a:rPr lang="en-US" sz="1400" dirty="0"/>
              <a:t>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637407"/>
            <a:ext cx="5308467" cy="1537196"/>
          </a:xfrm>
          <a:prstGeom prst="rect">
            <a:avLst/>
          </a:prstGeom>
          <a:solidFill>
            <a:srgbClr val="F7F8FA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039" y="1891407"/>
            <a:ext cx="50544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[PART 2]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26039" y="2176463"/>
            <a:ext cx="48004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AI Recommendation 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639" y="2557759"/>
            <a:ext cx="50544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1000"/>
              </a:lnSpc>
            </a:pPr>
            <a:r>
              <a:rPr lang="en-US" sz="1400" dirty="0"/>
              <a:t>The system analyzes soil, rainfall, moisture and temperature </a:t>
            </a:r>
            <a:endParaRPr lang="en-US" sz="1400" dirty="0" smtClean="0"/>
          </a:p>
          <a:p>
            <a:pPr>
              <a:lnSpc>
                <a:spcPct val="121000"/>
              </a:lnSpc>
            </a:pPr>
            <a:r>
              <a:rPr lang="en-US" sz="1400" dirty="0" smtClean="0"/>
              <a:t>conditions </a:t>
            </a:r>
            <a:r>
              <a:rPr lang="en-US" sz="1400" dirty="0"/>
              <a:t>to generate farm recommendations.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1182" y="3327003"/>
            <a:ext cx="5308467" cy="2378572"/>
          </a:xfrm>
          <a:prstGeom prst="rect">
            <a:avLst/>
          </a:prstGeom>
          <a:solidFill>
            <a:srgbClr val="F7F8FA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176" y="3581003"/>
            <a:ext cx="50544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[PART 3]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5176" y="3866059"/>
            <a:ext cx="48004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MongoDB + PostgreSQL + Knowledge Base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5176" y="4370884"/>
            <a:ext cx="50544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046" y="3327002"/>
            <a:ext cx="5308467" cy="2451943"/>
          </a:xfrm>
          <a:prstGeom prst="rect">
            <a:avLst/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039" y="3581003"/>
            <a:ext cx="50544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[PART 4]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6039" y="3866059"/>
            <a:ext cx="48004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2000" dirty="0"/>
              <a:t>Actionable Agriculture Insights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26039" y="4370884"/>
            <a:ext cx="50544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The farmer receives:</a:t>
            </a:r>
          </a:p>
          <a:p>
            <a:r>
              <a:rPr lang="en-IN" sz="1400" dirty="0" smtClean="0"/>
              <a:t> </a:t>
            </a:r>
            <a:r>
              <a:rPr lang="en-IN" sz="1400" dirty="0"/>
              <a:t>Crop recommendation</a:t>
            </a:r>
            <a:br>
              <a:rPr lang="en-IN" sz="1400" dirty="0"/>
            </a:br>
            <a:r>
              <a:rPr lang="en-IN" sz="1400" dirty="0" smtClean="0"/>
              <a:t> </a:t>
            </a:r>
            <a:r>
              <a:rPr lang="en-IN" sz="1400" dirty="0"/>
              <a:t>Irrigation advice</a:t>
            </a:r>
            <a:br>
              <a:rPr lang="en-IN" sz="1400" dirty="0"/>
            </a:br>
            <a:r>
              <a:rPr lang="en-IN" sz="1400" dirty="0" smtClean="0"/>
              <a:t> </a:t>
            </a:r>
            <a:r>
              <a:rPr lang="en-IN" sz="1400" dirty="0"/>
              <a:t>Fertilizer guidance</a:t>
            </a:r>
            <a:br>
              <a:rPr lang="en-IN" sz="1400" dirty="0"/>
            </a:br>
            <a:r>
              <a:rPr lang="en-IN" sz="1400" dirty="0" smtClean="0"/>
              <a:t> </a:t>
            </a:r>
            <a:r>
              <a:rPr lang="en-IN" sz="1400" dirty="0"/>
              <a:t>Historical insights</a:t>
            </a:r>
            <a:br>
              <a:rPr lang="en-IN" sz="1400" dirty="0"/>
            </a:br>
            <a:r>
              <a:rPr lang="en-IN" sz="1400" dirty="0" smtClean="0"/>
              <a:t> </a:t>
            </a:r>
            <a:r>
              <a:rPr lang="en-IN" sz="1400" dirty="0"/>
              <a:t>AI </a:t>
            </a:r>
            <a:r>
              <a:rPr lang="en-IN" sz="1400" dirty="0" err="1"/>
              <a:t>chatbot</a:t>
            </a:r>
            <a:r>
              <a:rPr lang="en-IN" sz="1400" dirty="0"/>
              <a:t> answers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7187" y="5953274"/>
            <a:ext cx="10769331" cy="63797"/>
          </a:xfrm>
          <a:prstGeom prst="roundRect">
            <a:avLst>
              <a:gd name="adj" fmla="val 49998"/>
            </a:avLst>
          </a:prstGeom>
          <a:solidFill>
            <a:srgbClr val="14161B"/>
          </a:solidFill>
          <a:ln/>
        </p:spPr>
      </p:sp>
      <p:sp>
        <p:nvSpPr>
          <p:cNvPr id="21" name="Text 19"/>
          <p:cNvSpPr/>
          <p:nvPr/>
        </p:nvSpPr>
        <p:spPr>
          <a:xfrm>
            <a:off x="647187" y="6248401"/>
            <a:ext cx="11378915" cy="39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50" b="1" kern="0" spc="42" dirty="0">
                <a:solidFill>
                  <a:srgbClr val="14161B"/>
                </a:solidFill>
                <a:latin typeface="Work Sans Bold" pitchFamily="34" charset="0"/>
                <a:ea typeface="Work Sans Bold" pitchFamily="34" charset="-122"/>
                <a:cs typeface="Work Sans Bold" pitchFamily="34" charset="-120"/>
              </a:rPr>
              <a:t>[Flow:</a:t>
            </a:r>
            <a:r>
              <a:rPr lang="en-US" sz="1050" kern="0" spc="42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IN" sz="1400" b="1" dirty="0"/>
              <a:t>Farm Input → Data Processing → AI + RAG Analysis → Recommendation → Farmer Decision</a:t>
            </a:r>
            <a:endParaRPr lang="en-US" sz="1400" b="1" dirty="0"/>
          </a:p>
        </p:txBody>
      </p:sp>
      <p:sp>
        <p:nvSpPr>
          <p:cNvPr id="22" name="Shape 20"/>
          <p:cNvSpPr/>
          <p:nvPr/>
        </p:nvSpPr>
        <p:spPr>
          <a:xfrm>
            <a:off x="0" y="6248400"/>
            <a:ext cx="12191695" cy="635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16518" y="6517977"/>
            <a:ext cx="775177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kern="0" spc="108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9CE391-5758-2860-F523-9ABFBE493E7D}"/>
              </a:ext>
            </a:extLst>
          </p:cNvPr>
          <p:cNvSpPr/>
          <p:nvPr/>
        </p:nvSpPr>
        <p:spPr>
          <a:xfrm>
            <a:off x="10982227" y="6523348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65176" y="4320580"/>
            <a:ext cx="3944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system uses:</a:t>
            </a:r>
          </a:p>
          <a:p>
            <a:r>
              <a:rPr lang="en-US" sz="1200" dirty="0"/>
              <a:t>Soil data </a:t>
            </a:r>
          </a:p>
          <a:p>
            <a:r>
              <a:rPr lang="en-US" sz="1200" dirty="0"/>
              <a:t>Weather data </a:t>
            </a:r>
          </a:p>
          <a:p>
            <a:r>
              <a:rPr lang="en-US" sz="1200" dirty="0"/>
              <a:t>Historical crop data </a:t>
            </a:r>
          </a:p>
          <a:p>
            <a:r>
              <a:rPr lang="en-US" sz="1200" dirty="0"/>
              <a:t>Agricultural knowledge </a:t>
            </a:r>
          </a:p>
          <a:p>
            <a:r>
              <a:rPr lang="en-US" sz="1200" dirty="0"/>
              <a:t>Farm information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[DATA FLOW]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97640" y="2631320"/>
            <a:ext cx="1591627" cy="4052352"/>
          </a:xfrm>
          <a:prstGeom prst="rect">
            <a:avLst/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176" y="2883595"/>
            <a:ext cx="133763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[01 · INPUT]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0804" y="3280965"/>
            <a:ext cx="10836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400" b="1" dirty="0"/>
              <a:t>Farm </a:t>
            </a:r>
            <a:r>
              <a:rPr lang="en-IN" sz="1400" b="1" dirty="0" smtClean="0"/>
              <a:t>&amp;</a:t>
            </a:r>
          </a:p>
          <a:p>
            <a:pPr>
              <a:lnSpc>
                <a:spcPct val="108000"/>
              </a:lnSpc>
            </a:pPr>
            <a:r>
              <a:rPr lang="en-IN" sz="1400" b="1" dirty="0" smtClean="0"/>
              <a:t>Environmental </a:t>
            </a:r>
          </a:p>
          <a:p>
            <a:pPr>
              <a:lnSpc>
                <a:spcPct val="108000"/>
              </a:lnSpc>
            </a:pPr>
            <a:r>
              <a:rPr lang="en-IN" sz="1400" b="1" dirty="0" smtClean="0"/>
              <a:t>Data: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848508" y="4181006"/>
            <a:ext cx="1083640" cy="2470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N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P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K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pH</a:t>
            </a:r>
            <a:endParaRPr lang="en-US" sz="1300" dirty="0" smtClean="0">
              <a:solidFill>
                <a:srgbClr val="14161B"/>
              </a:solidFill>
              <a:latin typeface="Work Sans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Rainfall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Soil Moisture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>
                <a:solidFill>
                  <a:srgbClr val="14161B"/>
                </a:solidFill>
                <a:latin typeface="Work Sans" pitchFamily="34" charset="0"/>
              </a:rPr>
              <a:t>Temperature</a:t>
            </a:r>
            <a:endParaRPr lang="en-US" sz="1300" dirty="0" smtClean="0">
              <a:solidFill>
                <a:srgbClr val="14161B"/>
              </a:solidFill>
              <a:latin typeface="Work Sans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55206" y="3473053"/>
            <a:ext cx="3183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5888" y="2631320"/>
            <a:ext cx="1591826" cy="4054077"/>
          </a:xfrm>
          <a:prstGeom prst="rect">
            <a:avLst/>
          </a:prstGeom>
          <a:solidFill>
            <a:srgbClr val="F7F8FA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9881" y="2883595"/>
            <a:ext cx="1083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[02 · PROCESSING]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63094" y="3355280"/>
            <a:ext cx="1139697" cy="55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600" b="1" dirty="0" smtClean="0"/>
              <a:t>Data</a:t>
            </a:r>
          </a:p>
          <a:p>
            <a:pPr>
              <a:lnSpc>
                <a:spcPct val="108000"/>
              </a:lnSpc>
            </a:pPr>
            <a:r>
              <a:rPr lang="en-IN" sz="1600" b="1" dirty="0" smtClean="0"/>
              <a:t>Analysis </a:t>
            </a:r>
            <a:r>
              <a:rPr lang="en-IN" sz="1600" b="1" dirty="0"/>
              <a:t>&amp; </a:t>
            </a:r>
            <a:r>
              <a:rPr lang="en-IN" sz="1600" b="1" dirty="0" smtClean="0"/>
              <a:t>AI: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3018952" y="4091419"/>
            <a:ext cx="1083839" cy="233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/>
              <a:t>Validate farm inputs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/>
              <a:t>Analyze environmental conditions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/>
              <a:t>Apply recommendations rules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/>
              <a:t>Analyze historical crop performance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 smtClean="0"/>
              <a:t>Retrieve relevant  agricultural knowledge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0011" y="3473053"/>
            <a:ext cx="3183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40692" y="2629594"/>
            <a:ext cx="1591826" cy="4054077"/>
          </a:xfrm>
          <a:prstGeom prst="rect">
            <a:avLst/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686" y="2883595"/>
            <a:ext cx="1083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[03 · STORAGE]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3756" y="3316934"/>
            <a:ext cx="1083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600" b="1" dirty="0"/>
              <a:t>Dual </a:t>
            </a:r>
            <a:r>
              <a:rPr lang="en-IN" sz="1600" b="1" dirty="0" smtClean="0"/>
              <a:t>Database</a:t>
            </a:r>
          </a:p>
          <a:p>
            <a:pPr>
              <a:lnSpc>
                <a:spcPct val="108000"/>
              </a:lnSpc>
            </a:pPr>
            <a:r>
              <a:rPr lang="en-IN" sz="1600" b="1" dirty="0" smtClean="0"/>
              <a:t>Architecture:</a:t>
            </a:r>
            <a:endParaRPr lang="en-US" sz="1600" b="1" dirty="0"/>
          </a:p>
        </p:txBody>
      </p:sp>
      <p:sp>
        <p:nvSpPr>
          <p:cNvPr id="17" name="Text 15"/>
          <p:cNvSpPr/>
          <p:nvPr/>
        </p:nvSpPr>
        <p:spPr>
          <a:xfrm>
            <a:off x="5291933" y="4078857"/>
            <a:ext cx="1083839" cy="2344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/>
              <a:t>PostgreSQL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Farm/master information</a:t>
            </a:r>
          </a:p>
          <a:p>
            <a:r>
              <a:rPr lang="en-US" sz="1200" b="1" dirty="0"/>
              <a:t>MongoDB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Soil, weather, historical data, recommendations &amp; knowledge base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84815" y="3473053"/>
            <a:ext cx="31838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55596" y="2629595"/>
            <a:ext cx="1591826" cy="4054076"/>
          </a:xfrm>
          <a:prstGeom prst="rect">
            <a:avLst/>
          </a:prstGeom>
          <a:solidFill>
            <a:srgbClr val="F7F8FA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9590" y="2883595"/>
            <a:ext cx="1083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[04 · RETRIEVAL]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7194" y="3316934"/>
            <a:ext cx="108383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600" b="1" dirty="0" smtClean="0"/>
              <a:t>Intelligent</a:t>
            </a:r>
          </a:p>
          <a:p>
            <a:pPr>
              <a:lnSpc>
                <a:spcPct val="108000"/>
              </a:lnSpc>
            </a:pPr>
            <a:r>
              <a:rPr lang="en-IN" sz="1600" b="1" dirty="0" smtClean="0"/>
              <a:t>Data Retrieval:</a:t>
            </a:r>
            <a:endParaRPr lang="en-US" sz="1600" b="1" dirty="0"/>
          </a:p>
        </p:txBody>
      </p:sp>
      <p:sp>
        <p:nvSpPr>
          <p:cNvPr id="22" name="Text 20"/>
          <p:cNvSpPr/>
          <p:nvPr/>
        </p:nvSpPr>
        <p:spPr>
          <a:xfrm>
            <a:off x="7551875" y="4034681"/>
            <a:ext cx="1083839" cy="238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 lang="en-US" sz="1400" dirty="0"/>
              <a:t>The system retrieves:</a:t>
            </a:r>
          </a:p>
          <a:p>
            <a:r>
              <a:rPr lang="en-US" sz="1400" dirty="0"/>
              <a:t>Relevant historical records </a:t>
            </a:r>
          </a:p>
          <a:p>
            <a:r>
              <a:rPr lang="en-US" sz="1400" dirty="0"/>
              <a:t>Crop performance patterns </a:t>
            </a:r>
          </a:p>
          <a:p>
            <a:r>
              <a:rPr lang="en-US" sz="1400" dirty="0"/>
              <a:t>Agricultural knowledge </a:t>
            </a:r>
          </a:p>
          <a:p>
            <a:r>
              <a:rPr lang="en-US" sz="1400" dirty="0"/>
              <a:t>Environmental information </a:t>
            </a:r>
          </a:p>
          <a:p>
            <a:r>
              <a:rPr lang="en-US" sz="1400" b="1" dirty="0"/>
              <a:t>RAG retrieves knowledge relevant to the farmer's question.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9719" y="3473053"/>
            <a:ext cx="31828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1416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70401" y="2629595"/>
            <a:ext cx="1910012" cy="4054076"/>
          </a:xfrm>
          <a:prstGeom prst="rect">
            <a:avLst/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4395" y="2883595"/>
            <a:ext cx="16560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[05 · OUTPUT]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33017" y="3316934"/>
            <a:ext cx="14020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600" b="1" dirty="0"/>
              <a:t>Actionable </a:t>
            </a:r>
            <a:endParaRPr lang="en-IN" sz="1600" b="1" dirty="0" smtClean="0"/>
          </a:p>
          <a:p>
            <a:pPr>
              <a:lnSpc>
                <a:spcPct val="108000"/>
              </a:lnSpc>
            </a:pPr>
            <a:r>
              <a:rPr lang="en-IN" sz="1600" b="1" dirty="0" smtClean="0"/>
              <a:t>Results:</a:t>
            </a:r>
            <a:endParaRPr lang="en-US" sz="1600" b="1" dirty="0"/>
          </a:p>
        </p:txBody>
      </p:sp>
      <p:sp>
        <p:nvSpPr>
          <p:cNvPr id="27" name="Text 25"/>
          <p:cNvSpPr/>
          <p:nvPr/>
        </p:nvSpPr>
        <p:spPr>
          <a:xfrm>
            <a:off x="9824394" y="4101916"/>
            <a:ext cx="1402025" cy="231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IN" sz="1400" dirty="0" smtClean="0"/>
              <a:t>Crop Recommendation </a:t>
            </a:r>
          </a:p>
          <a:p>
            <a:endParaRPr lang="en-IN" sz="1400" dirty="0"/>
          </a:p>
          <a:p>
            <a:r>
              <a:rPr lang="en-IN" sz="1400" dirty="0" smtClean="0"/>
              <a:t>Irrigation Recommendation</a:t>
            </a:r>
          </a:p>
          <a:p>
            <a:endParaRPr lang="en-IN" sz="1400" dirty="0" smtClean="0"/>
          </a:p>
          <a:p>
            <a:r>
              <a:rPr lang="en-IN" sz="1400" dirty="0" smtClean="0"/>
              <a:t>Fertilizer Recommendation</a:t>
            </a:r>
          </a:p>
          <a:p>
            <a:endParaRPr lang="en-IN" sz="1400" dirty="0" smtClean="0"/>
          </a:p>
          <a:p>
            <a:r>
              <a:rPr lang="en-IN" sz="1400" dirty="0" smtClean="0"/>
              <a:t>Historical Insights</a:t>
            </a:r>
          </a:p>
          <a:p>
            <a:endParaRPr lang="en-IN" sz="1400" dirty="0"/>
          </a:p>
          <a:p>
            <a:r>
              <a:rPr lang="en-IN" sz="1400" dirty="0" smtClean="0"/>
              <a:t>AI </a:t>
            </a:r>
            <a:r>
              <a:rPr lang="en-IN" sz="1400" dirty="0" err="1"/>
              <a:t>Chatbot</a:t>
            </a:r>
            <a:r>
              <a:rPr lang="en-IN" sz="1400" dirty="0"/>
              <a:t> Response</a:t>
            </a:r>
          </a:p>
        </p:txBody>
      </p:sp>
      <p:sp>
        <p:nvSpPr>
          <p:cNvPr id="28" name="Shape 26"/>
          <p:cNvSpPr/>
          <p:nvPr/>
        </p:nvSpPr>
        <p:spPr>
          <a:xfrm>
            <a:off x="0" y="6248400"/>
            <a:ext cx="12191695" cy="6350"/>
          </a:xfrm>
          <a:prstGeom prst="rect">
            <a:avLst/>
          </a:prstGeom>
          <a:solidFill>
            <a:srgbClr val="14161B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13046" y="6517977"/>
            <a:ext cx="77864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kern="0" spc="108" dirty="0">
                <a:solidFill>
                  <a:srgbClr val="14161B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24C08-9949-B1C8-533A-AE2AF1CA8562}"/>
              </a:ext>
            </a:extLst>
          </p:cNvPr>
          <p:cNvSpPr/>
          <p:nvPr/>
        </p:nvSpPr>
        <p:spPr>
          <a:xfrm>
            <a:off x="10982227" y="6483902"/>
            <a:ext cx="1209773" cy="334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92" y="1013341"/>
            <a:ext cx="1821721" cy="102223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67" y="1021081"/>
            <a:ext cx="1842444" cy="103356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46" y="985217"/>
            <a:ext cx="1878885" cy="107637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139" y="985217"/>
            <a:ext cx="2054177" cy="14002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937" y="906104"/>
            <a:ext cx="2045265" cy="1354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746</Words>
  <Application>Microsoft Office PowerPoint</Application>
  <PresentationFormat>Widescreen</PresentationFormat>
  <Paragraphs>165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Spectral ExtraLight</vt:lpstr>
      <vt:lpstr>Work Sans Medium</vt:lpstr>
      <vt:lpstr>Spectral Light</vt:lpstr>
      <vt:lpstr>Work Sans</vt:lpstr>
      <vt:lpstr>Arial</vt:lpstr>
      <vt:lpstr>Work Sans Bold</vt:lpstr>
      <vt:lpstr>Work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Phani Jayanth</dc:creator>
  <cp:lastModifiedBy>Evya</cp:lastModifiedBy>
  <cp:revision>8</cp:revision>
  <dcterms:created xsi:type="dcterms:W3CDTF">2026-09-26T14:41:24Z</dcterms:created>
  <dcterms:modified xsi:type="dcterms:W3CDTF">2026-09-30T18:02:39Z</dcterms:modified>
</cp:coreProperties>
</file>